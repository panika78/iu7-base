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5" d="100"/>
          <a:sy n="125" d="100"/>
        </p:scale>
        <p:origin x="2814" y="7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3173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2957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88765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947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348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346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8702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78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88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05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900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19-Apr-26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88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43838"/>
            <a:ext cx="7772400" cy="2008026"/>
          </a:xfrm>
        </p:spPr>
        <p:txBody>
          <a:bodyPr>
            <a:normAutofit fontScale="90000"/>
          </a:bodyPr>
          <a:lstStyle/>
          <a:p>
            <a:r>
              <a:rPr lang="ru-RU" b="1" dirty="0"/>
              <a:t>Дело «антисоветской троцкистской военной организации»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3253144"/>
            <a:ext cx="6400800" cy="2830156"/>
          </a:xfrm>
        </p:spPr>
        <p:txBody>
          <a:bodyPr/>
          <a:lstStyle/>
          <a:p>
            <a:r>
              <a:rPr lang="ru-RU" sz="3600" dirty="0"/>
              <a:t>или </a:t>
            </a:r>
            <a:r>
              <a:rPr sz="3600" dirty="0" err="1"/>
              <a:t>Дело</a:t>
            </a:r>
            <a:r>
              <a:rPr sz="3600" dirty="0"/>
              <a:t> </a:t>
            </a:r>
            <a:r>
              <a:rPr sz="3600" dirty="0" err="1"/>
              <a:t>Тухачевского</a:t>
            </a:r>
            <a:endParaRPr sz="3600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подготовил Артём Ким ИУ7-22Б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-243840"/>
            <a:ext cx="7269480" cy="1325562"/>
          </a:xfrm>
        </p:spPr>
        <p:txBody>
          <a:bodyPr/>
          <a:lstStyle/>
          <a:p>
            <a:r>
              <a:rPr dirty="0"/>
              <a:t>Что </a:t>
            </a:r>
            <a:r>
              <a:rPr dirty="0" err="1"/>
              <a:t>произошло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000" y="1200151"/>
            <a:ext cx="3244850" cy="435133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11 июня 1937 года состоялся закрытый судебный процесс над группой высокопоставленных военных руководителей. Их обвиняли в участии в подпольной организации, направленной против советского государства. Рассмотрение дела проходило без публичности и заняло один день. Все обвиняемые были признаны виновными и приговорены к расстрелу, после чего приговор был немедленно приведён в исполнение.</a:t>
            </a:r>
            <a:endParaRPr dirty="0"/>
          </a:p>
        </p:txBody>
      </p:sp>
      <p:pic>
        <p:nvPicPr>
          <p:cNvPr id="1026" name="Picture 2" descr="Документы. Часть 8. | Российский государственный военный архив">
            <a:extLst>
              <a:ext uri="{FF2B5EF4-FFF2-40B4-BE49-F238E27FC236}">
                <a16:creationId xmlns:a16="http://schemas.microsoft.com/office/drawing/2014/main" id="{A646E228-5BA5-502F-1FA3-FC5E2531CF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0" y="1398278"/>
            <a:ext cx="4857750" cy="4061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Маршал Советского Союза Михаил Николаевич Тухачевский">
            <a:extLst>
              <a:ext uri="{FF2B5EF4-FFF2-40B4-BE49-F238E27FC236}">
                <a16:creationId xmlns:a16="http://schemas.microsoft.com/office/drawing/2014/main" id="{8931F0F7-012F-139B-E17A-6B98C1626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95" y="203200"/>
            <a:ext cx="1407961" cy="18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706BD3B-0531-D0A3-E1A9-6FDC670803AA}"/>
              </a:ext>
            </a:extLst>
          </p:cNvPr>
          <p:cNvSpPr txBox="1"/>
          <p:nvPr/>
        </p:nvSpPr>
        <p:spPr>
          <a:xfrm>
            <a:off x="-93067" y="2120900"/>
            <a:ext cx="259298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Маршал Советского Союза</a:t>
            </a:r>
          </a:p>
          <a:p>
            <a:pPr algn="ctr"/>
            <a:r>
              <a:rPr lang="ru-RU" b="1" dirty="0"/>
              <a:t>Михаил Николаевич Тухачевский</a:t>
            </a:r>
            <a:endParaRPr lang="ru-RU" dirty="0"/>
          </a:p>
        </p:txBody>
      </p:sp>
      <p:pic>
        <p:nvPicPr>
          <p:cNvPr id="2052" name="Picture 4" descr="командарм 1-го ранга И. Э. Якир">
            <a:extLst>
              <a:ext uri="{FF2B5EF4-FFF2-40B4-BE49-F238E27FC236}">
                <a16:creationId xmlns:a16="http://schemas.microsoft.com/office/drawing/2014/main" id="{E9D1049C-0C3D-74A7-E8E7-873024C5D3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3275" y="109538"/>
            <a:ext cx="1337871" cy="18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B597AF-570D-5537-8659-BF9FE8121241}"/>
              </a:ext>
            </a:extLst>
          </p:cNvPr>
          <p:cNvSpPr txBox="1"/>
          <p:nvPr/>
        </p:nvSpPr>
        <p:spPr>
          <a:xfrm>
            <a:off x="2584349" y="2095500"/>
            <a:ext cx="29401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Командующий войсками Киевского ВО</a:t>
            </a:r>
          </a:p>
          <a:p>
            <a:pPr algn="ctr"/>
            <a:r>
              <a:rPr lang="ru-RU" b="1" dirty="0"/>
              <a:t>Иона Эммануилович Якир</a:t>
            </a:r>
            <a:endParaRPr lang="ru-RU" dirty="0"/>
          </a:p>
        </p:txBody>
      </p:sp>
      <p:pic>
        <p:nvPicPr>
          <p:cNvPr id="2054" name="Picture 6" descr="Член РВС СССР и командующий войсками Белорусского военного округа И.П. Уборевич">
            <a:extLst>
              <a:ext uri="{FF2B5EF4-FFF2-40B4-BE49-F238E27FC236}">
                <a16:creationId xmlns:a16="http://schemas.microsoft.com/office/drawing/2014/main" id="{4F06F4CE-E8E1-A73D-AA1F-3C31E3760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2853" y="228600"/>
            <a:ext cx="1363448" cy="1892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86314-6AEF-CAD5-F266-75DF9880C411}"/>
              </a:ext>
            </a:extLst>
          </p:cNvPr>
          <p:cNvSpPr txBox="1"/>
          <p:nvPr/>
        </p:nvSpPr>
        <p:spPr>
          <a:xfrm>
            <a:off x="5524501" y="2120901"/>
            <a:ext cx="2940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Командующий войсками Белорусского ВО;</a:t>
            </a:r>
          </a:p>
          <a:p>
            <a:pPr algn="ctr"/>
            <a:r>
              <a:rPr lang="ru-RU" b="1" dirty="0"/>
              <a:t>Иероним Петрович Уборевич</a:t>
            </a:r>
            <a:endParaRPr lang="ru-RU" dirty="0"/>
          </a:p>
        </p:txBody>
      </p:sp>
      <p:pic>
        <p:nvPicPr>
          <p:cNvPr id="2056" name="Picture 8">
            <a:extLst>
              <a:ext uri="{FF2B5EF4-FFF2-40B4-BE49-F238E27FC236}">
                <a16:creationId xmlns:a16="http://schemas.microsoft.com/office/drawing/2014/main" id="{9E3DDB04-46AB-FFA2-796C-E8E9BCDA0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839" y="3346629"/>
            <a:ext cx="1385540" cy="1873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B7C257-BAD6-2DD2-EFB7-00A4F6860A31}"/>
              </a:ext>
            </a:extLst>
          </p:cNvPr>
          <p:cNvSpPr txBox="1"/>
          <p:nvPr/>
        </p:nvSpPr>
        <p:spPr>
          <a:xfrm>
            <a:off x="-179883" y="5245279"/>
            <a:ext cx="32024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Командарм 2-го ранга. начальник Военной академии имени М. В. Фрунзе;</a:t>
            </a:r>
          </a:p>
          <a:p>
            <a:pPr algn="ctr"/>
            <a:r>
              <a:rPr lang="ru-RU" b="1" dirty="0"/>
              <a:t>Август Иванович </a:t>
            </a:r>
            <a:r>
              <a:rPr lang="ru-RU" b="1" dirty="0" err="1"/>
              <a:t>Корк</a:t>
            </a:r>
            <a:endParaRPr lang="ru-RU" b="1" dirty="0"/>
          </a:p>
        </p:txBody>
      </p:sp>
      <p:pic>
        <p:nvPicPr>
          <p:cNvPr id="2058" name="Picture 10">
            <a:extLst>
              <a:ext uri="{FF2B5EF4-FFF2-40B4-BE49-F238E27FC236}">
                <a16:creationId xmlns:a16="http://schemas.microsoft.com/office/drawing/2014/main" id="{C3027174-C442-DA85-589A-F6E2DA3FED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061" y="3429000"/>
            <a:ext cx="1356727" cy="1790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17B9868-C6A0-FB1F-D6E4-E165E87281F2}"/>
              </a:ext>
            </a:extLst>
          </p:cNvPr>
          <p:cNvSpPr txBox="1"/>
          <p:nvPr/>
        </p:nvSpPr>
        <p:spPr>
          <a:xfrm>
            <a:off x="2673299" y="5213708"/>
            <a:ext cx="2940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Председатель Центрального совета Осоавиахима;</a:t>
            </a:r>
          </a:p>
          <a:p>
            <a:pPr algn="ctr"/>
            <a:r>
              <a:rPr lang="ru-RU" b="1" dirty="0"/>
              <a:t>Роберт Петрович </a:t>
            </a:r>
            <a:r>
              <a:rPr lang="ru-RU" b="1" dirty="0" err="1"/>
              <a:t>Эйдеман</a:t>
            </a:r>
            <a:endParaRPr lang="ru-RU" b="1" dirty="0"/>
          </a:p>
        </p:txBody>
      </p:sp>
      <p:pic>
        <p:nvPicPr>
          <p:cNvPr id="2060" name="Picture 12">
            <a:extLst>
              <a:ext uri="{FF2B5EF4-FFF2-40B4-BE49-F238E27FC236}">
                <a16:creationId xmlns:a16="http://schemas.microsoft.com/office/drawing/2014/main" id="{D54BA224-583E-2258-0164-FF645EA2F6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551" y="3353158"/>
            <a:ext cx="1249750" cy="189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825E20E-D153-C339-1CD4-C2B13BB8630F}"/>
              </a:ext>
            </a:extLst>
          </p:cNvPr>
          <p:cNvSpPr txBox="1"/>
          <p:nvPr/>
        </p:nvSpPr>
        <p:spPr>
          <a:xfrm>
            <a:off x="5524501" y="5265404"/>
            <a:ext cx="2940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Военный атташе при полпредстве СССР в Великобритании;</a:t>
            </a:r>
          </a:p>
          <a:p>
            <a:pPr algn="ctr"/>
            <a:r>
              <a:rPr lang="ru-RU" b="1" dirty="0"/>
              <a:t>Витовт Казимирович </a:t>
            </a:r>
            <a:r>
              <a:rPr lang="ru-RU" b="1" dirty="0" err="1"/>
              <a:t>Путна</a:t>
            </a:r>
            <a:endParaRPr lang="ru-RU" b="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" y="-662781"/>
            <a:ext cx="7269480" cy="1325562"/>
          </a:xfrm>
        </p:spPr>
        <p:txBody>
          <a:bodyPr/>
          <a:lstStyle/>
          <a:p>
            <a:r>
              <a:rPr dirty="0" err="1"/>
              <a:t>Суть</a:t>
            </a:r>
            <a:r>
              <a:rPr dirty="0"/>
              <a:t> </a:t>
            </a:r>
            <a:r>
              <a:rPr dirty="0" err="1"/>
              <a:t>обвинений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444" y="601663"/>
            <a:ext cx="8639556" cy="210311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Следствие утверждало, что обвиняемые состояли в подпольной военной организации, которая якобы сотрудничала с Германией и передавала иностранным государствам секретные сведения. По версии обвинения, участники заговора намеренно ослабляли обороноспособность страны и планировали военный переворот с целью установления военной диктатуры. Официально дело характеризовалось как раскрытие военно-фашистского заговора.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8E469B18-F8E1-CED8-0199-E17963305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8740" y="2486329"/>
            <a:ext cx="5867400" cy="3770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C237F0-8409-E991-6812-50F3C5D2ABD7}"/>
              </a:ext>
            </a:extLst>
          </p:cNvPr>
          <p:cNvSpPr txBox="1"/>
          <p:nvPr/>
        </p:nvSpPr>
        <p:spPr>
          <a:xfrm>
            <a:off x="956310" y="6211669"/>
            <a:ext cx="72313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Генрих Ягода, Александр Егоров, Климент Ворошилов, Михаил Тухачевский и Ян Гамарник, 1935 год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-662781"/>
            <a:ext cx="7269480" cy="1325562"/>
          </a:xfrm>
        </p:spPr>
        <p:txBody>
          <a:bodyPr/>
          <a:lstStyle/>
          <a:p>
            <a:r>
              <a:rPr dirty="0" err="1"/>
              <a:t>Достоверность</a:t>
            </a:r>
            <a:r>
              <a:rPr dirty="0"/>
              <a:t> </a:t>
            </a:r>
            <a:r>
              <a:rPr dirty="0" err="1"/>
              <a:t>обвинений</a:t>
            </a:r>
            <a:endParaRPr dirty="0"/>
          </a:p>
        </p:txBody>
      </p:sp>
      <p:pic>
        <p:nvPicPr>
          <p:cNvPr id="3074" name="Picture 2" descr="undefined">
            <a:extLst>
              <a:ext uri="{FF2B5EF4-FFF2-40B4-BE49-F238E27FC236}">
                <a16:creationId xmlns:a16="http://schemas.microsoft.com/office/drawing/2014/main" id="{90EDBA71-7312-9ADF-23BC-640164744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2940" y="838606"/>
            <a:ext cx="3093720" cy="3882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AA3EFD4-8123-4163-5131-C30704C5737A}"/>
              </a:ext>
            </a:extLst>
          </p:cNvPr>
          <p:cNvSpPr txBox="1"/>
          <p:nvPr/>
        </p:nvSpPr>
        <p:spPr>
          <a:xfrm>
            <a:off x="818388" y="4725731"/>
            <a:ext cx="278282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i="1" dirty="0"/>
              <a:t>Признание маршала Тухачевского от 26 мая 1937 года о возглавлении военно-троцкистского заговора. На листе есть бурые пятна, которые позднейшая судебно-медицинская экспертиза идентифицировала как пятна крови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6D7289-B256-5796-9324-E20CD3E44239}"/>
              </a:ext>
            </a:extLst>
          </p:cNvPr>
          <p:cNvSpPr txBox="1"/>
          <p:nvPr/>
        </p:nvSpPr>
        <p:spPr>
          <a:xfrm>
            <a:off x="3848100" y="769620"/>
            <a:ext cx="436778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Согласно мнению большинства современных историков, обвинения не имели достаточной доказательной базы. Исследования архивных материалов показывают, что признательные показания были получены в условиях давления, а объективных подтверждений существования заговора обнаружено не было. В 1957 году дело было пересмотрено, и все осуждённые были полностью реабилитированы за отсутствием состава преступления.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444" y="-426720"/>
            <a:ext cx="7269480" cy="1325562"/>
          </a:xfrm>
        </p:spPr>
        <p:txBody>
          <a:bodyPr/>
          <a:lstStyle/>
          <a:p>
            <a:r>
              <a:rPr dirty="0" err="1"/>
              <a:t>Цели</a:t>
            </a:r>
            <a:r>
              <a:rPr dirty="0"/>
              <a:t> </a:t>
            </a:r>
            <a:r>
              <a:rPr dirty="0" err="1"/>
              <a:t>государства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784" y="1447801"/>
            <a:ext cx="7743444" cy="435133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Считается, что процесс был направлен на усиление политического контроля над вооружёнными силами. Руководство страны стремилось устранить потенциально самостоятельных военных лидеров, обладавших значительным авторитетом, и исключить возможность нелояльности армии. В результате ключевые должности заняли новые командиры, карьера которых в большей степени зависела от политического руководства государства.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Репрессии затронули значительную часть командного состава Красной армии. Были арестованы, уволены или расстреляны тысячи офицеров, что привело к нарушению преемственности военного опыта и ослаблению кадровой структуры армии. Политический контроль над вооружёнными силами значительно усилился, а изменения в составе командования повлияли на дальнейшее развитие армии.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784" y="-121920"/>
            <a:ext cx="7269480" cy="1325562"/>
          </a:xfrm>
        </p:spPr>
        <p:txBody>
          <a:bodyPr/>
          <a:lstStyle/>
          <a:p>
            <a:r>
              <a:rPr dirty="0" err="1"/>
              <a:t>Итог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6784" y="1562101"/>
            <a:ext cx="7392924" cy="435133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Процесс военных 1937 года стал одним из наиболее показательных событий периода Большого террора. Он продемонстрировал стремление государства обеспечить полный контроль над армией и устранить любые потенциальные угрозы политической стабильности. В современной исторической науке этот процесс рассматривается как политически мотивированное дело, не имеющее достаточных доказательств существования реального заговора.</a:t>
            </a:r>
            <a:endParaRPr dirty="0"/>
          </a:p>
        </p:txBody>
      </p:sp>
      <p:pic>
        <p:nvPicPr>
          <p:cNvPr id="5122" name="Picture 2" descr="A green four-kopeck stamp">
            <a:extLst>
              <a:ext uri="{FF2B5EF4-FFF2-40B4-BE49-F238E27FC236}">
                <a16:creationId xmlns:a16="http://schemas.microsoft.com/office/drawing/2014/main" id="{533E63CA-4DF4-0F33-5FFC-E16BC934B5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2270" y="3981450"/>
            <a:ext cx="3299460" cy="2378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Вид">
  <a:themeElements>
    <a:clrScheme name="Вид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Вид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Вид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36</TotalTime>
  <Words>438</Words>
  <Application>Microsoft Office PowerPoint</Application>
  <PresentationFormat>Экран (4:3)</PresentationFormat>
  <Paragraphs>32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Schoolbook</vt:lpstr>
      <vt:lpstr>Wingdings 2</vt:lpstr>
      <vt:lpstr>Вид</vt:lpstr>
      <vt:lpstr>Дело «антисоветской троцкистской военной организации»</vt:lpstr>
      <vt:lpstr>Что произошло</vt:lpstr>
      <vt:lpstr>Презентация PowerPoint</vt:lpstr>
      <vt:lpstr>Суть обвинений</vt:lpstr>
      <vt:lpstr>Достоверность обвинений</vt:lpstr>
      <vt:lpstr>Цели государства</vt:lpstr>
      <vt:lpstr>Итог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Артём Ким</cp:lastModifiedBy>
  <cp:revision>5</cp:revision>
  <dcterms:created xsi:type="dcterms:W3CDTF">2013-01-27T09:14:16Z</dcterms:created>
  <dcterms:modified xsi:type="dcterms:W3CDTF">2026-04-19T13:23:07Z</dcterms:modified>
  <cp:category/>
</cp:coreProperties>
</file>